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90" r:id="rId2"/>
    <p:sldId id="291" r:id="rId3"/>
    <p:sldId id="292" r:id="rId4"/>
    <p:sldId id="293" r:id="rId5"/>
    <p:sldId id="294" r:id="rId6"/>
    <p:sldId id="295" r:id="rId7"/>
    <p:sldId id="296" r:id="rId8"/>
    <p:sldId id="297" r:id="rId9"/>
    <p:sldId id="298" r:id="rId10"/>
    <p:sldId id="299" r:id="rId11"/>
    <p:sldId id="301" r:id="rId12"/>
    <p:sldId id="302" r:id="rId13"/>
    <p:sldId id="304" r:id="rId14"/>
    <p:sldId id="305" r:id="rId15"/>
    <p:sldId id="306" r:id="rId16"/>
    <p:sldId id="307" r:id="rId17"/>
    <p:sldId id="308" r:id="rId18"/>
    <p:sldId id="309"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96" y="5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93904557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err="1" smtClean="0"/>
                        <a:t>Iqra</a:t>
                      </a:r>
                      <a:r>
                        <a:rPr lang="en-US" sz="2000" dirty="0" smtClean="0"/>
                        <a:t> </a:t>
                      </a:r>
                      <a:r>
                        <a:rPr lang="en-US" sz="2000" dirty="0" err="1" smtClean="0"/>
                        <a:t>tabassum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shiqratabassum@gmail.com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8095316103</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2" y="1300653"/>
            <a:ext cx="10280254" cy="523220"/>
          </a:xfrm>
          <a:prstGeom prst="rect">
            <a:avLst/>
          </a:prstGeom>
          <a:noFill/>
        </p:spPr>
        <p:txBody>
          <a:bodyPr wrap="square" rtlCol="0">
            <a:spAutoFit/>
          </a:bodyPr>
          <a:lstStyle/>
          <a:p>
            <a:r>
              <a:rPr lang="en-US" sz="2800" b="1" dirty="0"/>
              <a:t>Domain of  Project </a:t>
            </a:r>
            <a:r>
              <a:rPr lang="en-US" sz="2400" b="1" dirty="0"/>
              <a:t>– </a:t>
            </a:r>
            <a:r>
              <a:rPr lang="en-US" sz="2400" b="1" dirty="0" smtClean="0">
                <a:highlight>
                  <a:srgbClr val="FFFF00"/>
                </a:highlight>
              </a:rPr>
              <a:t>[</a:t>
            </a:r>
            <a:r>
              <a:rPr lang="en-IN" sz="2400" dirty="0"/>
              <a:t>Travel &amp; </a:t>
            </a:r>
            <a:r>
              <a:rPr lang="en-IN" sz="2400" dirty="0" smtClean="0"/>
              <a:t>Tourism</a:t>
            </a:r>
            <a:r>
              <a:rPr lang="en-US" sz="2000" b="1" dirty="0" smtClean="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smtClean="0"/>
              <a:t>Project Tile </a:t>
            </a:r>
            <a:r>
              <a:rPr lang="en-US" sz="2400" b="1" dirty="0" smtClean="0"/>
              <a:t>– </a:t>
            </a:r>
            <a:r>
              <a:rPr lang="en-US" sz="2400" b="1" dirty="0" smtClean="0">
                <a:highlight>
                  <a:srgbClr val="FFFF00"/>
                </a:highlight>
              </a:rPr>
              <a:t>[</a:t>
            </a:r>
            <a:r>
              <a:rPr lang="en-US" sz="2000" dirty="0" smtClean="0"/>
              <a:t>India </a:t>
            </a:r>
            <a:r>
              <a:rPr lang="en-US" sz="2000" dirty="0"/>
              <a:t>Travel Agent</a:t>
            </a:r>
            <a:r>
              <a:rPr lang="en-US" sz="2400" b="1" dirty="0" smtClean="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solidFill>
                <a:srgbClr val="FF0000"/>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1122" y="3683879"/>
            <a:ext cx="816507" cy="1062122"/>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301977" y="1016275"/>
            <a:ext cx="10607040" cy="3416320"/>
          </a:xfrm>
          <a:prstGeom prst="rect">
            <a:avLst/>
          </a:prstGeom>
          <a:noFill/>
        </p:spPr>
        <p:txBody>
          <a:bodyPr wrap="square" rtlCol="0">
            <a:spAutoFit/>
          </a:bodyPr>
          <a:lstStyle/>
          <a:p>
            <a:pPr fontAlgn="base"/>
            <a:r>
              <a:rPr lang="en-US" sz="2400" b="1" dirty="0"/>
              <a:t>Problem Statement : </a:t>
            </a:r>
            <a:r>
              <a:rPr lang="en-IN" sz="2000" dirty="0"/>
              <a:t>Travel Planner </a:t>
            </a:r>
            <a:r>
              <a:rPr lang="en-IN" sz="2000" dirty="0" smtClean="0"/>
              <a:t>Agent</a:t>
            </a:r>
            <a:endParaRPr lang="en-IN" sz="1600" dirty="0" smtClean="0"/>
          </a:p>
          <a:p>
            <a:pPr fontAlgn="base"/>
            <a:endParaRPr lang="en-US" sz="1600" b="1" dirty="0"/>
          </a:p>
          <a:p>
            <a:pPr fontAlgn="base"/>
            <a:r>
              <a:rPr lang="en-US" sz="2400" b="1" dirty="0"/>
              <a:t>The Challenge</a:t>
            </a:r>
            <a:r>
              <a:rPr lang="en-US" sz="2400" dirty="0"/>
              <a:t> </a:t>
            </a:r>
          </a:p>
          <a:p>
            <a:pPr fontAlgn="base"/>
            <a:r>
              <a:rPr lang="en-US" sz="2000" dirty="0"/>
              <a:t>A Travel Planner Agent is an AI-powered assistant that helps users plan trips efficiently and intelligently. It understands user preferences, budget and travel constraints to create personalized travel plans. It can suggest destinations, build itineraries, and recommend suitable travel options, making trip planning easier and more convenient.</a:t>
            </a:r>
            <a:r>
              <a:rPr lang="en-US" sz="2000" dirty="0"/>
              <a:t> </a:t>
            </a:r>
          </a:p>
          <a:p>
            <a:pPr fontAlgn="base"/>
            <a:endParaRPr lang="en-US" sz="1600" dirty="0"/>
          </a:p>
          <a:p>
            <a:pPr fontAlgn="base"/>
            <a:r>
              <a:rPr lang="en-US" sz="2400" b="1" dirty="0"/>
              <a:t>The </a:t>
            </a:r>
            <a:r>
              <a:rPr lang="en-US" sz="2400" b="1" dirty="0" smtClean="0"/>
              <a:t>Objective</a:t>
            </a:r>
            <a:endParaRPr lang="en-US" sz="2400" b="1" dirty="0"/>
          </a:p>
          <a:p>
            <a:pPr fontAlgn="base"/>
            <a:endParaRPr lang="en-US" sz="1600" dirty="0"/>
          </a:p>
          <a:p>
            <a:pPr marL="285750" indent="-285750" fontAlgn="base">
              <a:buFont typeface="Arial" panose="020B0604020202020204" pitchFamily="34" charset="0"/>
              <a:buChar char="•"/>
            </a:pPr>
            <a:endParaRPr lang="en-US"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01977" y="493055"/>
            <a:ext cx="7214616" cy="523220"/>
          </a:xfrm>
          <a:prstGeom prst="rect">
            <a:avLst/>
          </a:prstGeom>
          <a:noFill/>
        </p:spPr>
        <p:txBody>
          <a:bodyPr wrap="square" rtlCol="0">
            <a:spAutoFit/>
          </a:bodyPr>
          <a:lstStyle/>
          <a:p>
            <a:r>
              <a:rPr lang="en-US" sz="2800" b="1" dirty="0"/>
              <a:t>Problem Statement -</a:t>
            </a:r>
            <a:endParaRPr lang="en-IN" sz="2800" b="1" dirty="0"/>
          </a:p>
        </p:txBody>
      </p:sp>
      <p:sp>
        <p:nvSpPr>
          <p:cNvPr id="7" name="Rectangle 4"/>
          <p:cNvSpPr>
            <a:spLocks noChangeArrowheads="1"/>
          </p:cNvSpPr>
          <p:nvPr/>
        </p:nvSpPr>
        <p:spPr bwMode="auto">
          <a:xfrm rot="10800000" flipV="1">
            <a:off x="301977" y="3691461"/>
            <a:ext cx="1204949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Understand user travel preferences and budget.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Suggest suitable destinations.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Create personalized travel itineraries.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Recommend transportation and accommodation options.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Provide useful travel information.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Make travel planning faster and easier. </a:t>
            </a:r>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03812"/>
            <a:ext cx="10607040" cy="2585323"/>
          </a:xfrm>
          <a:prstGeom prst="rect">
            <a:avLst/>
          </a:prstGeom>
          <a:noFill/>
        </p:spPr>
        <p:txBody>
          <a:bodyPr wrap="square" rtlCol="0">
            <a:spAutoFit/>
          </a:bodyPr>
          <a:lstStyle/>
          <a:p>
            <a:pPr fontAlgn="base"/>
            <a:endParaRPr lang="en-US" b="1" dirty="0" smtClean="0"/>
          </a:p>
          <a:p>
            <a:r>
              <a:rPr lang="en-US" sz="2000" dirty="0"/>
              <a:t>The proposed solution is an </a:t>
            </a:r>
            <a:r>
              <a:rPr lang="en-US" sz="2000" b="1" dirty="0"/>
              <a:t>AI-powered Travel Planner Agent</a:t>
            </a:r>
            <a:r>
              <a:rPr lang="en-US" sz="2000" dirty="0"/>
              <a:t> built using </a:t>
            </a:r>
            <a:r>
              <a:rPr lang="en-US" sz="2000" b="1" dirty="0"/>
              <a:t>IBM Bob, IBM watsonx.ai, and AI models</a:t>
            </a:r>
            <a:r>
              <a:rPr lang="en-US" sz="2000" dirty="0"/>
              <a:t> to help users plan trips efficiently and conveniently.</a:t>
            </a:r>
          </a:p>
          <a:p>
            <a:r>
              <a:rPr lang="en-US" sz="2000" dirty="0"/>
              <a:t>The system understands user requirements such as </a:t>
            </a:r>
            <a:r>
              <a:rPr lang="en-US" sz="2000" b="1" dirty="0"/>
              <a:t>destination, travel duration, budget, starting location, interests, and preferences</a:t>
            </a:r>
            <a:r>
              <a:rPr lang="en-US" sz="2000" dirty="0"/>
              <a:t> to generate personalized travel plans</a:t>
            </a:r>
            <a:r>
              <a:rPr lang="en-US" sz="2000" dirty="0" smtClean="0"/>
              <a:t>.</a:t>
            </a:r>
          </a:p>
          <a:p>
            <a:endParaRPr lang="en-US" sz="2000" dirty="0"/>
          </a:p>
          <a:p>
            <a:r>
              <a:rPr lang="en-US" sz="2400" b="1" dirty="0"/>
              <a:t>The Travel Planner Agent </a:t>
            </a:r>
            <a:r>
              <a:rPr lang="en-US" sz="2400" b="1" dirty="0" smtClean="0"/>
              <a:t>can:</a:t>
            </a:r>
          </a:p>
          <a:p>
            <a:endParaRPr lang="en-US" sz="2400" b="1"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 Solution -</a:t>
            </a:r>
            <a:endParaRPr lang="en-IN" sz="2800" b="1" dirty="0"/>
          </a:p>
        </p:txBody>
      </p:sp>
      <p:sp>
        <p:nvSpPr>
          <p:cNvPr id="4" name="Rectangle 1"/>
          <p:cNvSpPr>
            <a:spLocks noChangeArrowheads="1"/>
          </p:cNvSpPr>
          <p:nvPr/>
        </p:nvSpPr>
        <p:spPr bwMode="auto">
          <a:xfrm>
            <a:off x="576072" y="3400624"/>
            <a:ext cx="991489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Suggest suitable destinations</a:t>
            </a:r>
            <a:r>
              <a:rPr kumimoji="0" lang="en-US" altLang="en-US" sz="2000" b="0" i="0" u="none" strike="noStrike" cap="none" normalizeH="0" baseline="0" dirty="0" smtClean="0">
                <a:ln>
                  <a:noFill/>
                </a:ln>
                <a:solidFill>
                  <a:schemeClr val="tx1"/>
                </a:solidFill>
                <a:effectLst/>
                <a:latin typeface="Arial" panose="020B0604020202020204" pitchFamily="34" charset="0"/>
              </a:rPr>
              <a:t> based on user preferences and budget.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Create personalized itineraries</a:t>
            </a:r>
            <a:r>
              <a:rPr kumimoji="0" lang="en-US" altLang="en-US" sz="2000" b="0" i="0" u="none" strike="noStrike" cap="none" normalizeH="0" baseline="0" dirty="0" smtClean="0">
                <a:ln>
                  <a:noFill/>
                </a:ln>
                <a:solidFill>
                  <a:schemeClr val="tx1"/>
                </a:solidFill>
                <a:effectLst/>
                <a:latin typeface="Arial" panose="020B0604020202020204" pitchFamily="34" charset="0"/>
              </a:rPr>
              <a:t> with day-wise travel plans and activities.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Recommend transportation options</a:t>
            </a:r>
            <a:r>
              <a:rPr kumimoji="0" lang="en-US" altLang="en-US" sz="2000" b="0" i="0" u="none" strike="noStrike" cap="none" normalizeH="0" baseline="0" dirty="0" smtClean="0">
                <a:ln>
                  <a:noFill/>
                </a:ln>
                <a:solidFill>
                  <a:schemeClr val="tx1"/>
                </a:solidFill>
                <a:effectLst/>
                <a:latin typeface="Arial" panose="020B0604020202020204" pitchFamily="34" charset="0"/>
              </a:rPr>
              <a:t> such as flights, trains, buses, and local travel.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Suggest accommodation options</a:t>
            </a:r>
            <a:r>
              <a:rPr kumimoji="0" lang="en-US" altLang="en-US" sz="2000" b="0" i="0" u="none" strike="noStrike" cap="none" normalizeH="0" baseline="0" dirty="0" smtClean="0">
                <a:ln>
                  <a:noFill/>
                </a:ln>
                <a:solidFill>
                  <a:schemeClr val="tx1"/>
                </a:solidFill>
                <a:effectLst/>
                <a:latin typeface="Arial" panose="020B0604020202020204" pitchFamily="34" charset="0"/>
              </a:rPr>
              <a:t> based on the user's budget and requirements.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Provide travel information</a:t>
            </a:r>
            <a:r>
              <a:rPr kumimoji="0" lang="en-US" altLang="en-US" sz="2000" b="0" i="0" u="none" strike="noStrike" cap="none" normalizeH="0" baseline="0" dirty="0" smtClean="0">
                <a:ln>
                  <a:noFill/>
                </a:ln>
                <a:solidFill>
                  <a:schemeClr val="tx1"/>
                </a:solidFill>
                <a:effectLst/>
                <a:latin typeface="Arial" panose="020B0604020202020204" pitchFamily="34" charset="0"/>
              </a:rPr>
              <a:t> such as popular attractions, food, and activities.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Answer travel-related questions</a:t>
            </a:r>
            <a:r>
              <a:rPr kumimoji="0" lang="en-US" altLang="en-US" sz="2000" b="0" i="0" u="none" strike="noStrike" cap="none" normalizeH="0" baseline="0" dirty="0" smtClean="0">
                <a:ln>
                  <a:noFill/>
                </a:ln>
                <a:solidFill>
                  <a:schemeClr val="tx1"/>
                </a:solidFill>
                <a:effectLst/>
                <a:latin typeface="Arial" panose="020B0604020202020204" pitchFamily="34" charset="0"/>
              </a:rPr>
              <a:t> through an interactive chat interface. </a:t>
            </a:r>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510637" y="472757"/>
            <a:ext cx="7123176" cy="1261884"/>
          </a:xfrm>
          <a:prstGeom prst="rect">
            <a:avLst/>
          </a:prstGeom>
          <a:noFill/>
        </p:spPr>
        <p:txBody>
          <a:bodyPr wrap="square" lIns="91440" tIns="45720" rIns="91440" bIns="45720" rtlCol="0" anchor="t">
            <a:spAutoFit/>
          </a:bodyPr>
          <a:lstStyle/>
          <a:p>
            <a:r>
              <a:rPr lang="en-US" sz="2800" b="1" dirty="0" smtClean="0"/>
              <a:t>Technology Used</a:t>
            </a:r>
          </a:p>
          <a:p>
            <a:endParaRPr lang="en-US" sz="2400" b="1" dirty="0"/>
          </a:p>
          <a:p>
            <a:endParaRPr lang="en-IN" sz="2400" b="1" dirty="0"/>
          </a:p>
        </p:txBody>
      </p:sp>
      <p:sp>
        <p:nvSpPr>
          <p:cNvPr id="5" name="Rectangle 2"/>
          <p:cNvSpPr>
            <a:spLocks noChangeArrowheads="1"/>
          </p:cNvSpPr>
          <p:nvPr/>
        </p:nvSpPr>
        <p:spPr bwMode="auto">
          <a:xfrm>
            <a:off x="427510" y="1234009"/>
            <a:ext cx="932213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IBM Bob</a:t>
            </a:r>
            <a:r>
              <a:rPr kumimoji="0" lang="en-US" altLang="en-US" sz="2000" b="0" i="0" u="none" strike="noStrike" cap="none" normalizeH="0" baseline="0" dirty="0" smtClean="0">
                <a:ln>
                  <a:noFill/>
                </a:ln>
                <a:solidFill>
                  <a:schemeClr val="tx1"/>
                </a:solidFill>
                <a:effectLst/>
                <a:latin typeface="Arial" panose="020B0604020202020204" pitchFamily="34" charset="0"/>
              </a:rPr>
              <a:t> – AI-assisted project development</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IBM watsonx.ai</a:t>
            </a:r>
            <a:r>
              <a:rPr kumimoji="0" lang="en-US" altLang="en-US" sz="2000" b="0" i="0" u="none" strike="noStrike" cap="none" normalizeH="0" baseline="0" dirty="0" smtClean="0">
                <a:ln>
                  <a:noFill/>
                </a:ln>
                <a:solidFill>
                  <a:schemeClr val="tx1"/>
                </a:solidFill>
                <a:effectLst/>
                <a:latin typeface="Arial" panose="020B0604020202020204" pitchFamily="34" charset="0"/>
              </a:rPr>
              <a:t> – AI model integration </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IBM Granite</a:t>
            </a:r>
            <a:r>
              <a:rPr kumimoji="0" lang="en-US" altLang="en-US" sz="2000" b="0" i="0" u="none" strike="noStrike" cap="none" normalizeH="0" baseline="0" dirty="0" smtClean="0">
                <a:ln>
                  <a:noFill/>
                </a:ln>
                <a:solidFill>
                  <a:schemeClr val="tx1"/>
                </a:solidFill>
                <a:effectLst/>
                <a:latin typeface="Arial" panose="020B0604020202020204" pitchFamily="34" charset="0"/>
              </a:rPr>
              <a:t> – Generative AI model </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Node.js</a:t>
            </a:r>
            <a:r>
              <a:rPr kumimoji="0" lang="en-US" altLang="en-US" sz="2000" b="0" i="0" u="none" strike="noStrike" cap="none" normalizeH="0" baseline="0" dirty="0" smtClean="0">
                <a:ln>
                  <a:noFill/>
                </a:ln>
                <a:solidFill>
                  <a:schemeClr val="tx1"/>
                </a:solidFill>
                <a:effectLst/>
                <a:latin typeface="Arial" panose="020B0604020202020204" pitchFamily="34" charset="0"/>
              </a:rPr>
              <a:t> – Backend development </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Express.js</a:t>
            </a:r>
            <a:r>
              <a:rPr kumimoji="0" lang="en-US" altLang="en-US" sz="2000" b="0" i="0" u="none" strike="noStrike" cap="none" normalizeH="0" baseline="0" dirty="0" smtClean="0">
                <a:ln>
                  <a:noFill/>
                </a:ln>
                <a:solidFill>
                  <a:schemeClr val="tx1"/>
                </a:solidFill>
                <a:effectLst/>
                <a:latin typeface="Arial" panose="020B0604020202020204" pitchFamily="34" charset="0"/>
              </a:rPr>
              <a:t> – API and server </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HTML, CSS &amp; JavaScript</a:t>
            </a:r>
            <a:r>
              <a:rPr kumimoji="0" lang="en-US" altLang="en-US" sz="2000" b="0" i="0" u="none" strike="noStrike" cap="none" normalizeH="0" baseline="0" dirty="0" smtClean="0">
                <a:ln>
                  <a:noFill/>
                </a:ln>
                <a:solidFill>
                  <a:schemeClr val="tx1"/>
                </a:solidFill>
                <a:effectLst/>
                <a:latin typeface="Arial" panose="020B0604020202020204" pitchFamily="34" charset="0"/>
              </a:rPr>
              <a:t> – Frontend</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REST API</a:t>
            </a:r>
            <a:r>
              <a:rPr kumimoji="0" lang="en-US" altLang="en-US" sz="2000" b="0" i="0" u="none" strike="noStrike" cap="none" normalizeH="0" baseline="0" dirty="0" smtClean="0">
                <a:ln>
                  <a:noFill/>
                </a:ln>
                <a:solidFill>
                  <a:schemeClr val="tx1"/>
                </a:solidFill>
                <a:effectLst/>
                <a:latin typeface="Arial" panose="020B0604020202020204" pitchFamily="34" charset="0"/>
              </a:rPr>
              <a:t> – Frontend and backend communication </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399" y="1063489"/>
            <a:ext cx="6392141" cy="5113713"/>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9438" y="926278"/>
            <a:ext cx="7140036" cy="571202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66169" y="462989"/>
            <a:ext cx="7342205" cy="5873764"/>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r>
              <a:rPr lang="en-US" sz="2400" b="1" dirty="0" smtClean="0">
                <a:solidFill>
                  <a:schemeClr val="dk1"/>
                </a:solidFill>
                <a:latin typeface="Calibri"/>
                <a:ea typeface="Calibri"/>
                <a:cs typeface="Calibri"/>
                <a:sym typeface="Calibri"/>
              </a:rPr>
              <a:t>:</a:t>
            </a:r>
            <a:endParaRPr lang="en-US" sz="2400" b="1" dirty="0" smtClean="0">
              <a:solidFill>
                <a:schemeClr val="dk1"/>
              </a:solidFill>
              <a:latin typeface="Calibri"/>
              <a:cs typeface="Calibri"/>
              <a:sym typeface="Calibri"/>
            </a:endParaRPr>
          </a:p>
          <a:p>
            <a:pPr lvl="0"/>
            <a:r>
              <a:rPr lang="en-US" sz="1800" dirty="0"/>
              <a:t>travel-agent/</a:t>
            </a:r>
          </a:p>
          <a:p>
            <a:pPr lvl="0"/>
            <a:r>
              <a:rPr lang="en-US" sz="1800" dirty="0"/>
              <a:t>├── README.md</a:t>
            </a:r>
          </a:p>
          <a:p>
            <a:pPr lvl="0"/>
            <a:r>
              <a:rPr lang="en-US" sz="1800" dirty="0"/>
              <a:t>├── start.ps1                    # PowerShell startup script</a:t>
            </a:r>
          </a:p>
          <a:p>
            <a:pPr lvl="0"/>
            <a:r>
              <a:rPr lang="en-US" sz="1800" dirty="0"/>
              <a:t>│</a:t>
            </a:r>
          </a:p>
          <a:p>
            <a:pPr lvl="0"/>
            <a:r>
              <a:rPr lang="en-US" sz="1800" dirty="0"/>
              <a:t>├── frontend/</a:t>
            </a:r>
          </a:p>
          <a:p>
            <a:pPr lvl="0"/>
            <a:r>
              <a:rPr lang="en-US" sz="1800" dirty="0"/>
              <a:t>│   └── index.html               # Single-page frontend UI</a:t>
            </a:r>
          </a:p>
          <a:p>
            <a:pPr lvl="0"/>
            <a:r>
              <a:rPr lang="en-US" sz="1800" dirty="0"/>
              <a:t>│</a:t>
            </a:r>
          </a:p>
          <a:p>
            <a:pPr lvl="0"/>
            <a:r>
              <a:rPr lang="en-US" sz="1800" dirty="0"/>
              <a:t>└── backend/</a:t>
            </a:r>
          </a:p>
          <a:p>
            <a:pPr lvl="0"/>
            <a:r>
              <a:rPr lang="en-US" sz="1800" dirty="0"/>
              <a:t>    ├── server.js                # Express server / main entry point</a:t>
            </a:r>
          </a:p>
          <a:p>
            <a:pPr lvl="0"/>
            <a:r>
              <a:rPr lang="en-US" sz="1800" dirty="0"/>
              <a:t>    ├── config.js                # Configuration (API keys, settings)</a:t>
            </a:r>
          </a:p>
          <a:p>
            <a:pPr lvl="0"/>
            <a:r>
              <a:rPr lang="en-US" sz="1800" dirty="0"/>
              <a:t>    ├── </a:t>
            </a:r>
            <a:r>
              <a:rPr lang="en-US" sz="1800" dirty="0" err="1"/>
              <a:t>package.json</a:t>
            </a:r>
            <a:r>
              <a:rPr lang="en-US" sz="1800" dirty="0"/>
              <a:t>             # Node.js dependencies</a:t>
            </a:r>
          </a:p>
          <a:p>
            <a:pPr lvl="0"/>
            <a:r>
              <a:rPr lang="en-US" sz="1800" dirty="0"/>
              <a:t>    ├── package-</a:t>
            </a:r>
            <a:r>
              <a:rPr lang="en-US" sz="1800" dirty="0" err="1"/>
              <a:t>lock.json</a:t>
            </a:r>
            <a:endParaRPr lang="en-US" sz="1800" dirty="0"/>
          </a:p>
          <a:p>
            <a:pPr lvl="0"/>
            <a:r>
              <a:rPr lang="en-US" sz="1800" dirty="0"/>
              <a:t>    └── </a:t>
            </a:r>
            <a:r>
              <a:rPr lang="en-US" sz="1800" dirty="0" err="1"/>
              <a:t>node_modules</a:t>
            </a:r>
            <a:r>
              <a:rPr lang="en-US" sz="1800" dirty="0"/>
              <a:t>/            # Installed dependencies</a:t>
            </a:r>
          </a:p>
          <a:p>
            <a:pPr lvl="0"/>
            <a:r>
              <a:rPr lang="en-US" sz="1800" dirty="0"/>
              <a:t>        ├── express              # Web framework</a:t>
            </a:r>
          </a:p>
          <a:p>
            <a:pPr lvl="0"/>
            <a:r>
              <a:rPr lang="en-US" sz="1800" dirty="0"/>
              <a:t>        ├── </a:t>
            </a:r>
            <a:r>
              <a:rPr lang="en-US" sz="1800" dirty="0" err="1"/>
              <a:t>axios</a:t>
            </a:r>
            <a:r>
              <a:rPr lang="en-US" sz="1800" dirty="0"/>
              <a:t>                # HTTP client</a:t>
            </a:r>
          </a:p>
          <a:p>
            <a:pPr lvl="0"/>
            <a:r>
              <a:rPr lang="en-US" sz="1800" dirty="0"/>
              <a:t>        ├── </a:t>
            </a:r>
            <a:r>
              <a:rPr lang="en-US" sz="1800" dirty="0" err="1"/>
              <a:t>cors</a:t>
            </a:r>
            <a:r>
              <a:rPr lang="en-US" sz="1800" dirty="0"/>
              <a:t>                 # Cross-origin resource sharing</a:t>
            </a:r>
          </a:p>
          <a:p>
            <a:pPr lvl="0"/>
            <a:r>
              <a:rPr lang="en-US" sz="1800" dirty="0"/>
              <a:t>        ├── </a:t>
            </a:r>
            <a:r>
              <a:rPr lang="en-US" sz="1800" dirty="0" err="1"/>
              <a:t>dotenv</a:t>
            </a:r>
            <a:r>
              <a:rPr lang="en-US" sz="1800" dirty="0"/>
              <a:t>               # Environment variable loading</a:t>
            </a:r>
          </a:p>
          <a:p>
            <a:pPr lvl="0"/>
            <a:r>
              <a:rPr lang="en-US" sz="1800" dirty="0"/>
              <a:t>        ├── </a:t>
            </a:r>
            <a:r>
              <a:rPr lang="en-US" sz="1800" dirty="0" err="1"/>
              <a:t>nodemon</a:t>
            </a:r>
            <a:r>
              <a:rPr lang="en-US" sz="1800" dirty="0"/>
              <a:t>              # Dev auto-restart</a:t>
            </a:r>
          </a:p>
          <a:p>
            <a:pPr lvl="0"/>
            <a:r>
              <a:rPr lang="en-US" sz="1800" dirty="0"/>
              <a:t>        └── ... (other deps)</a:t>
            </a:r>
            <a:endParaRPr lang="en-US" sz="1800" dirty="0"/>
          </a:p>
        </p:txBody>
      </p:sp>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192163"/>
            <a:ext cx="7406640" cy="5078313"/>
          </a:xfrm>
          <a:prstGeom prst="rect">
            <a:avLst/>
          </a:prstGeom>
          <a:noFill/>
        </p:spPr>
        <p:txBody>
          <a:bodyPr wrap="square" rtlCol="0">
            <a:spAutoFit/>
          </a:bodyPr>
          <a:lstStyle/>
          <a:p>
            <a:r>
              <a:rPr lang="en-US" sz="1800" b="1" dirty="0"/>
              <a:t>Role of Agentic AI in Nutrition Agent</a:t>
            </a:r>
          </a:p>
          <a:p>
            <a:r>
              <a:rPr lang="en-US" sz="1800" b="1" dirty="0"/>
              <a:t>Agentic AI</a:t>
            </a:r>
            <a:r>
              <a:rPr lang="en-US" sz="1800" dirty="0"/>
              <a:t> enables the Nutrition Agent to function as an intelligent, autonomous system rather than a simple </a:t>
            </a:r>
            <a:r>
              <a:rPr lang="en-US" sz="1800" dirty="0" err="1"/>
              <a:t>chatbot</a:t>
            </a:r>
            <a:r>
              <a:rPr lang="en-US" sz="1800" dirty="0"/>
              <a:t>. Using </a:t>
            </a:r>
            <a:r>
              <a:rPr lang="en-US" sz="1800" b="1" dirty="0"/>
              <a:t>IBM watsonx.ai</a:t>
            </a:r>
            <a:r>
              <a:rPr lang="en-US" sz="1800" dirty="0"/>
              <a:t> and </a:t>
            </a:r>
            <a:r>
              <a:rPr lang="en-US" sz="1800" b="1" dirty="0"/>
              <a:t>IBM Granite models</a:t>
            </a:r>
            <a:r>
              <a:rPr lang="en-US" sz="1800" dirty="0"/>
              <a:t>, it coordinates multiple specialized agents to deliver personalized nutrition guidance.</a:t>
            </a:r>
          </a:p>
          <a:p>
            <a:r>
              <a:rPr lang="en-US" sz="1800" dirty="0"/>
              <a:t>Each agent performs a specific role—such as retrieving nutritional data, generating diet plans, providing health advice, and analyzing food logs—while working collaboratively. This </a:t>
            </a:r>
            <a:r>
              <a:rPr lang="en-US" sz="1800" b="1" dirty="0"/>
              <a:t>multi-agent approach</a:t>
            </a:r>
            <a:r>
              <a:rPr lang="en-US" sz="1800" dirty="0"/>
              <a:t> ensures efficient task execution and accurate results.</a:t>
            </a:r>
          </a:p>
          <a:p>
            <a:r>
              <a:rPr lang="en-US" sz="1800" dirty="0"/>
              <a:t>Agentic AI also brings </a:t>
            </a:r>
            <a:r>
              <a:rPr lang="en-US" sz="1800" b="1" dirty="0"/>
              <a:t>context awareness</a:t>
            </a:r>
            <a:r>
              <a:rPr lang="en-US" sz="1800" dirty="0"/>
              <a:t>, understanding user details like age, health conditions, and fitness goals to generate tailored recommendations. It supports </a:t>
            </a:r>
            <a:r>
              <a:rPr lang="en-US" sz="1800" b="1" dirty="0"/>
              <a:t>real-time adaptation</a:t>
            </a:r>
            <a:r>
              <a:rPr lang="en-US" sz="1800" dirty="0"/>
              <a:t>, continuously updating suggestions based on user inputs like daily meals.</a:t>
            </a:r>
          </a:p>
          <a:p>
            <a:r>
              <a:rPr lang="en-US" sz="1800" dirty="0"/>
              <a:t>Additionally, agents communicate with each other, enabling better decision-making and improved outcomes.</a:t>
            </a:r>
          </a:p>
          <a:p>
            <a:r>
              <a:rPr lang="en-US" sz="1800" dirty="0"/>
              <a:t>Overall, Agentic AI makes the system proactive, personalized, and goal-driven, acting like a </a:t>
            </a:r>
            <a:r>
              <a:rPr lang="en-US" sz="1800" b="1" dirty="0"/>
              <a:t>smart digital nutritionist</a:t>
            </a:r>
            <a:r>
              <a:rPr lang="en-US" sz="1800" dirty="0"/>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stretch>
            <a:fillRect/>
          </a:stretch>
        </p:blipFill>
        <p:spPr>
          <a:xfrm>
            <a:off x="2191111" y="816977"/>
            <a:ext cx="7269564" cy="5815651"/>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a:t>
            </a:r>
            <a:r>
              <a:rPr lang="en-US" sz="2400" b="1" dirty="0" smtClean="0">
                <a:sym typeface="Times New Roman"/>
              </a:rPr>
              <a:t>Screenshot</a:t>
            </a:r>
          </a:p>
          <a:p>
            <a:pPr>
              <a:lnSpc>
                <a:spcPct val="157142"/>
              </a:lnSpc>
              <a:buClr>
                <a:srgbClr val="051D3A"/>
              </a:buClr>
              <a:buSzPts val="3500"/>
            </a:pPr>
            <a:endParaRPr lang="en-US" sz="2400" b="1" dirty="0">
              <a:sym typeface="Times New Roman"/>
            </a:endParaRPr>
          </a:p>
          <a:p>
            <a:pPr>
              <a:lnSpc>
                <a:spcPct val="157142"/>
              </a:lnSpc>
              <a:buClr>
                <a:srgbClr val="051D3A"/>
              </a:buClr>
              <a:buSzPts val="3500"/>
            </a:pPr>
            <a:endParaRPr lang="en-US" sz="2400" b="1" dirty="0" smtClean="0">
              <a:sym typeface="Times New Roman"/>
            </a:endParaRPr>
          </a:p>
          <a:p>
            <a:pPr>
              <a:lnSpc>
                <a:spcPct val="157142"/>
              </a:lnSpc>
              <a:buClr>
                <a:srgbClr val="051D3A"/>
              </a:buClr>
              <a:buSzPts val="3500"/>
            </a:pPr>
            <a:endParaRPr lang="en-US" sz="2400" b="1" dirty="0">
              <a:sym typeface="Times New Roman"/>
            </a:endParaRPr>
          </a:p>
          <a:p>
            <a:pPr>
              <a:lnSpc>
                <a:spcPct val="157142"/>
              </a:lnSpc>
              <a:buClr>
                <a:srgbClr val="051D3A"/>
              </a:buClr>
              <a:buSzPts val="3500"/>
            </a:pPr>
            <a:endParaRPr lang="en-US" sz="2400" b="1" dirty="0" smtClean="0">
              <a:sym typeface="Times New Roman"/>
            </a:endParaRPr>
          </a:p>
          <a:p>
            <a:pPr>
              <a:lnSpc>
                <a:spcPct val="157142"/>
              </a:lnSpc>
              <a:buClr>
                <a:srgbClr val="051D3A"/>
              </a:buClr>
              <a:buSzPts val="3500"/>
            </a:pPr>
            <a:endParaRPr sz="2400" b="1" dirty="0">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184731" cy="400110"/>
          </a:xfrm>
          <a:prstGeom prst="rect">
            <a:avLst/>
          </a:prstGeom>
          <a:noFill/>
        </p:spPr>
        <p:txBody>
          <a:bodyPr wrap="none" rtlCol="0">
            <a:spAutoFit/>
          </a:bodyPr>
          <a:lstStyle/>
          <a:p>
            <a:endParaRPr lang="en-IN" sz="2000" dirty="0">
              <a:solidFill>
                <a:srgbClr val="FF0000"/>
              </a:solidFill>
            </a:endParaRPr>
          </a:p>
        </p:txBody>
      </p:sp>
      <p:sp>
        <p:nvSpPr>
          <p:cNvPr id="9" name="AutoShape 6" descr="blob:https://web.whatsapp.com/74fce18c-1d67-4a5a-a8ab-ec50fa3ced53"/>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0065" y="890545"/>
            <a:ext cx="6857212" cy="5485769"/>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587235" y="1195132"/>
            <a:ext cx="11301984" cy="5016758"/>
          </a:xfrm>
          <a:prstGeom prst="rect">
            <a:avLst/>
          </a:prstGeom>
          <a:noFill/>
        </p:spPr>
        <p:txBody>
          <a:bodyPr wrap="square" rtlCol="0">
            <a:spAutoFit/>
          </a:bodyPr>
          <a:lstStyle/>
          <a:p>
            <a:r>
              <a:rPr lang="en-US" sz="1800" dirty="0" smtClean="0"/>
              <a:t>The </a:t>
            </a:r>
            <a:r>
              <a:rPr lang="en-US" sz="1800" dirty="0"/>
              <a:t>proposed </a:t>
            </a:r>
            <a:r>
              <a:rPr lang="en-US" sz="1800" b="1" dirty="0"/>
              <a:t>Travel Planner Agent</a:t>
            </a:r>
            <a:r>
              <a:rPr lang="en-US" sz="1800" dirty="0"/>
              <a:t> stands out by combining </a:t>
            </a:r>
            <a:r>
              <a:rPr lang="en-US" sz="1800" b="1" dirty="0"/>
              <a:t>Agentic AI, personalization, and intelligent travel planning</a:t>
            </a:r>
            <a:r>
              <a:rPr lang="en-US" sz="1800" dirty="0"/>
              <a:t> into a single smart system.</a:t>
            </a:r>
          </a:p>
          <a:p>
            <a:r>
              <a:rPr lang="en-US" sz="1800" b="1" dirty="0"/>
              <a:t>Personalized Travel Planning</a:t>
            </a:r>
            <a:r>
              <a:rPr lang="en-US" sz="1800" dirty="0"/>
              <a:t> – Creates customized travel plans based on the user's destination, budget, trip duration, and preferences.</a:t>
            </a:r>
          </a:p>
          <a:p>
            <a:r>
              <a:rPr lang="en-US" sz="1800" b="1" dirty="0"/>
              <a:t>Intelligent Itinerary Generation</a:t>
            </a:r>
            <a:r>
              <a:rPr lang="en-US" sz="1800" dirty="0"/>
              <a:t> – Automatically generates organized day-wise itineraries, making trip planning easier and more efficient.</a:t>
            </a:r>
          </a:p>
          <a:p>
            <a:r>
              <a:rPr lang="en-US" sz="1800" b="1" dirty="0"/>
              <a:t>Conversational AI</a:t>
            </a:r>
            <a:r>
              <a:rPr lang="en-US" sz="1800" dirty="0"/>
              <a:t> – Allows users to interact naturally with the travel agent and refine their plans through a web-based chat interface.</a:t>
            </a:r>
          </a:p>
          <a:p>
            <a:r>
              <a:rPr lang="en-US" sz="1800" b="1" dirty="0"/>
              <a:t>Smart Travel Recommendations</a:t>
            </a:r>
            <a:r>
              <a:rPr lang="en-US" sz="1800" dirty="0"/>
              <a:t> – Suggests suitable destinations, activities, transportation, and accommodation options based on user requirements.</a:t>
            </a:r>
          </a:p>
          <a:p>
            <a:r>
              <a:rPr lang="en-US" sz="1800" b="1" dirty="0"/>
              <a:t>Budget-Aware Planning</a:t>
            </a:r>
            <a:r>
              <a:rPr lang="en-US" sz="1800" dirty="0"/>
              <a:t> – Considers the user's budget while creating practical and affordable travel plans.</a:t>
            </a:r>
          </a:p>
          <a:p>
            <a:r>
              <a:rPr lang="en-US" sz="1800" b="1" dirty="0"/>
              <a:t>Interactive User Experience</a:t>
            </a:r>
            <a:r>
              <a:rPr lang="en-US" sz="1800" dirty="0"/>
              <a:t> – Provides quick suggestions and supports multi-turn conversations for a more engaging planning experience.</a:t>
            </a:r>
          </a:p>
          <a:p>
            <a:r>
              <a:rPr lang="en-US" sz="1800" b="1" dirty="0"/>
              <a:t>IBM Granite-Powered AI</a:t>
            </a:r>
            <a:r>
              <a:rPr lang="en-US" sz="1800" dirty="0"/>
              <a:t> – Uses </a:t>
            </a:r>
            <a:r>
              <a:rPr lang="en-US" sz="1800" b="1" dirty="0"/>
              <a:t>IBM watsonx.ai and IBM Granite 3.3 8B Instruct</a:t>
            </a:r>
            <a:r>
              <a:rPr lang="en-US" sz="1800" dirty="0"/>
              <a:t> to generate intelligent and context-aware travel recommendations.</a:t>
            </a:r>
          </a:p>
          <a:p>
            <a:r>
              <a:rPr lang="en-US" sz="1800" dirty="0"/>
              <a:t>This makes the solution a </a:t>
            </a:r>
            <a:r>
              <a:rPr lang="en-US" sz="1800" b="1" dirty="0"/>
              <a:t>smart, personalized, and interactive travel planning assistant</a:t>
            </a:r>
            <a:r>
              <a:rPr lang="en-US" sz="1800" dirty="0"/>
              <a:t>, rather than just a static travel information website.</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800" b="1" dirty="0" err="1" smtClean="0">
                <a:solidFill>
                  <a:srgbClr val="2B3541"/>
                </a:solidFill>
                <a:latin typeface="+mj-lt"/>
                <a:ea typeface="Times New Roman"/>
                <a:cs typeface="Times New Roman"/>
                <a:sym typeface="Times New Roman"/>
              </a:rPr>
              <a:t>Github</a:t>
            </a:r>
            <a:r>
              <a:rPr lang="en-US" sz="2800" b="1" dirty="0" smtClean="0">
                <a:solidFill>
                  <a:srgbClr val="2B3541"/>
                </a:solidFill>
                <a:latin typeface="+mj-lt"/>
                <a:ea typeface="Times New Roman"/>
                <a:cs typeface="Times New Roman"/>
                <a:sym typeface="Times New Roman"/>
              </a:rPr>
              <a:t> </a:t>
            </a:r>
            <a:r>
              <a:rPr lang="en-US" sz="2800" b="1" dirty="0">
                <a:solidFill>
                  <a:srgbClr val="2B3541"/>
                </a:solidFill>
                <a:latin typeface="+mj-lt"/>
                <a:ea typeface="Times New Roman"/>
                <a:cs typeface="Times New Roman"/>
                <a:sym typeface="Times New Roman"/>
              </a:rPr>
              <a:t>URL </a:t>
            </a:r>
            <a:r>
              <a:rPr lang="en-US" sz="2000" dirty="0" smtClean="0">
                <a:solidFill>
                  <a:srgbClr val="2B3541"/>
                </a:solidFill>
                <a:latin typeface="Times New Roman"/>
                <a:ea typeface="Times New Roman"/>
                <a:cs typeface="Times New Roman"/>
                <a:sym typeface="Times New Roman"/>
              </a:rPr>
              <a:t>– </a:t>
            </a:r>
            <a:r>
              <a:rPr lang="en-IN" sz="2000" dirty="0"/>
              <a:t>https://github.com/shiqrat/india-travel-agent</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Rectangle 1"/>
          <p:cNvSpPr>
            <a:spLocks noChangeArrowheads="1"/>
          </p:cNvSpPr>
          <p:nvPr/>
        </p:nvSpPr>
        <p:spPr bwMode="auto">
          <a:xfrm>
            <a:off x="320634" y="978448"/>
            <a:ext cx="1197795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Integrate </a:t>
            </a:r>
            <a:r>
              <a:rPr kumimoji="0" lang="en-US" altLang="en-US" sz="2400" b="1" i="0" u="none" strike="noStrike" cap="none" normalizeH="0" baseline="0" dirty="0" smtClean="0">
                <a:ln>
                  <a:noFill/>
                </a:ln>
                <a:solidFill>
                  <a:schemeClr val="tx1"/>
                </a:solidFill>
                <a:effectLst/>
                <a:latin typeface="Arial" panose="020B0604020202020204" pitchFamily="34" charset="0"/>
              </a:rPr>
              <a:t>real-time weather and traffic information</a:t>
            </a:r>
            <a:r>
              <a:rPr kumimoji="0" lang="en-US" altLang="en-US" sz="2400" b="0" i="0" u="none" strike="noStrike" cap="none" normalizeH="0" baseline="0" dirty="0" smtClean="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Add </a:t>
            </a:r>
            <a:r>
              <a:rPr kumimoji="0" lang="en-US" altLang="en-US" sz="2400" b="1" i="0" u="none" strike="noStrike" cap="none" normalizeH="0" baseline="0" dirty="0" smtClean="0">
                <a:ln>
                  <a:noFill/>
                </a:ln>
                <a:solidFill>
                  <a:schemeClr val="tx1"/>
                </a:solidFill>
                <a:effectLst/>
                <a:latin typeface="Arial" panose="020B0604020202020204" pitchFamily="34" charset="0"/>
              </a:rPr>
              <a:t>Google Maps/location services</a:t>
            </a:r>
            <a:r>
              <a:rPr kumimoji="0" lang="en-US" altLang="en-US" sz="2400" b="0" i="0" u="none" strike="noStrike" cap="none" normalizeH="0" baseline="0" dirty="0" smtClean="0">
                <a:ln>
                  <a:noFill/>
                </a:ln>
                <a:solidFill>
                  <a:schemeClr val="tx1"/>
                </a:solidFill>
                <a:effectLst/>
                <a:latin typeface="Arial" panose="020B0604020202020204" pitchFamily="34" charset="0"/>
              </a:rPr>
              <a:t> for better route planning.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Provide </a:t>
            </a:r>
            <a:r>
              <a:rPr kumimoji="0" lang="en-US" altLang="en-US" sz="2400" b="1" i="0" u="none" strike="noStrike" cap="none" normalizeH="0" baseline="0" dirty="0" smtClean="0">
                <a:ln>
                  <a:noFill/>
                </a:ln>
                <a:solidFill>
                  <a:schemeClr val="tx1"/>
                </a:solidFill>
                <a:effectLst/>
                <a:latin typeface="Arial" panose="020B0604020202020204" pitchFamily="34" charset="0"/>
              </a:rPr>
              <a:t>real-time flight, train, and hotel recommendations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Add </a:t>
            </a:r>
            <a:r>
              <a:rPr kumimoji="0" lang="en-US" altLang="en-US" sz="2400" b="1" i="0" u="none" strike="noStrike" cap="none" normalizeH="0" baseline="0" dirty="0" smtClean="0">
                <a:ln>
                  <a:noFill/>
                </a:ln>
                <a:solidFill>
                  <a:schemeClr val="tx1"/>
                </a:solidFill>
                <a:effectLst/>
                <a:latin typeface="Arial" panose="020B0604020202020204" pitchFamily="34" charset="0"/>
              </a:rPr>
              <a:t>voice-based interaction</a:t>
            </a:r>
            <a:r>
              <a:rPr kumimoji="0" lang="en-US" altLang="en-US" sz="2400" b="0" i="0" u="none" strike="noStrike" cap="none" normalizeH="0" baseline="0" dirty="0" smtClean="0">
                <a:ln>
                  <a:noFill/>
                </a:ln>
                <a:solidFill>
                  <a:schemeClr val="tx1"/>
                </a:solidFill>
                <a:effectLst/>
                <a:latin typeface="Arial" panose="020B0604020202020204" pitchFamily="34" charset="0"/>
              </a:rPr>
              <a:t> for easier travel planning.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Support </a:t>
            </a:r>
            <a:r>
              <a:rPr kumimoji="0" lang="en-US" altLang="en-US" sz="2400" b="1" i="0" u="none" strike="noStrike" cap="none" normalizeH="0" baseline="0" dirty="0" smtClean="0">
                <a:ln>
                  <a:noFill/>
                </a:ln>
                <a:solidFill>
                  <a:schemeClr val="tx1"/>
                </a:solidFill>
                <a:effectLst/>
                <a:latin typeface="Arial" panose="020B0604020202020204" pitchFamily="34" charset="0"/>
              </a:rPr>
              <a:t>multiple languages</a:t>
            </a:r>
            <a:r>
              <a:rPr kumimoji="0" lang="en-US" altLang="en-US" sz="2400" b="0" i="0" u="none" strike="noStrike" cap="none" normalizeH="0" baseline="0" dirty="0" smtClean="0">
                <a:ln>
                  <a:noFill/>
                </a:ln>
                <a:solidFill>
                  <a:schemeClr val="tx1"/>
                </a:solidFill>
                <a:effectLst/>
                <a:latin typeface="Arial" panose="020B0604020202020204" pitchFamily="34" charset="0"/>
              </a:rPr>
              <a:t> for different users.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Add </a:t>
            </a:r>
            <a:r>
              <a:rPr kumimoji="0" lang="en-US" altLang="en-US" sz="2400" b="1" i="0" u="none" strike="noStrike" cap="none" normalizeH="0" baseline="0" dirty="0" smtClean="0">
                <a:ln>
                  <a:noFill/>
                </a:ln>
                <a:solidFill>
                  <a:schemeClr val="tx1"/>
                </a:solidFill>
                <a:effectLst/>
                <a:latin typeface="Arial" panose="020B0604020202020204" pitchFamily="34" charset="0"/>
              </a:rPr>
              <a:t>personalized recommendations</a:t>
            </a:r>
            <a:r>
              <a:rPr kumimoji="0" lang="en-US" altLang="en-US" sz="2400" b="0" i="0" u="none" strike="noStrike" cap="none" normalizeH="0" baseline="0" dirty="0" smtClean="0">
                <a:ln>
                  <a:noFill/>
                </a:ln>
                <a:solidFill>
                  <a:schemeClr val="tx1"/>
                </a:solidFill>
                <a:effectLst/>
                <a:latin typeface="Arial" panose="020B0604020202020204" pitchFamily="34" charset="0"/>
              </a:rPr>
              <a:t> based on user preferences and previous trips.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Enable </a:t>
            </a:r>
            <a:r>
              <a:rPr kumimoji="0" lang="en-US" altLang="en-US" sz="2400" b="1" i="0" u="none" strike="noStrike" cap="none" normalizeH="0" baseline="0" dirty="0" smtClean="0">
                <a:ln>
                  <a:noFill/>
                </a:ln>
                <a:solidFill>
                  <a:schemeClr val="tx1"/>
                </a:solidFill>
                <a:effectLst/>
                <a:latin typeface="Arial" panose="020B0604020202020204" pitchFamily="34" charset="0"/>
              </a:rPr>
              <a:t>budget tracking and travel expense estimation</a:t>
            </a:r>
            <a:r>
              <a:rPr kumimoji="0" lang="en-US" altLang="en-US" sz="2400" b="0" i="0" u="none" strike="noStrike" cap="none" normalizeH="0" baseline="0" dirty="0" smtClean="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Add </a:t>
            </a:r>
            <a:r>
              <a:rPr kumimoji="0" lang="en-US" altLang="en-US" sz="2400" b="1" i="0" u="none" strike="noStrike" cap="none" normalizeH="0" baseline="0" dirty="0" smtClean="0">
                <a:ln>
                  <a:noFill/>
                </a:ln>
                <a:solidFill>
                  <a:schemeClr val="tx1"/>
                </a:solidFill>
                <a:effectLst/>
                <a:latin typeface="Arial" panose="020B0604020202020204" pitchFamily="34" charset="0"/>
              </a:rPr>
              <a:t>booking and change-alert features</a:t>
            </a:r>
            <a:r>
              <a:rPr kumimoji="0" lang="en-US" altLang="en-US" sz="2400" b="0" i="0" u="none" strike="noStrike" cap="none" normalizeH="0" baseline="0" dirty="0" smtClean="0">
                <a:ln>
                  <a:noFill/>
                </a:ln>
                <a:solidFill>
                  <a:schemeClr val="tx1"/>
                </a:solidFill>
                <a:effectLst/>
                <a:latin typeface="Arial" panose="020B0604020202020204" pitchFamily="34" charset="0"/>
              </a:rPr>
              <a:t> for flights, hotels, and activities. </a:t>
            </a:r>
          </a:p>
        </p:txBody>
      </p:sp>
    </p:spTree>
    <p:extLst>
      <p:ext uri="{BB962C8B-B14F-4D97-AF65-F5344CB8AC3E}">
        <p14:creationId xmlns:p14="http://schemas.microsoft.com/office/powerpoint/2010/main" val="740028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137" y="1543879"/>
            <a:ext cx="5629894" cy="4214601"/>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5985" y="1543879"/>
            <a:ext cx="4509344" cy="4509344"/>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4409" y="997694"/>
            <a:ext cx="7518359" cy="571186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2649</TotalTime>
  <Words>855</Words>
  <Application>Microsoft Office PowerPoint</Application>
  <PresentationFormat>Widescreen</PresentationFormat>
  <Paragraphs>122</Paragraphs>
  <Slides>18</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Windows10</cp:lastModifiedBy>
  <cp:revision>12</cp:revision>
  <dcterms:created xsi:type="dcterms:W3CDTF">2025-07-08T05:06:56Z</dcterms:created>
  <dcterms:modified xsi:type="dcterms:W3CDTF">2026-09-11T18:34:16Z</dcterms:modified>
</cp:coreProperties>
</file>